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97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63BFF"/>
            </a:gs>
            <a:gs pos="100000">
              <a:srgbClr val="47BFFF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77440"/>
            <a:ext cx="1036289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0" b="1">
                <a:solidFill>
                  <a:srgbClr val="FFFFFF"/>
                </a:solidFill>
                <a:latin typeface="맑은 고딕"/>
              </a:rPr>
              <a:t>PTPT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600" b="0">
                <a:solidFill>
                  <a:srgbClr val="FFFFFF"/>
                </a:solidFill>
                <a:latin typeface="맑은 고딕"/>
              </a:rPr>
              <a:t>발표 리허설을 AI로 분석하고 피드백받는 서비스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4000" b="1">
                <a:solidFill>
                  <a:srgbClr val="0E7D72"/>
                </a:solidFill>
                <a:latin typeface="맑은 고딕"/>
              </a:rPr>
              <a:t>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3409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01617"/>
                </a:solidFill>
                <a:latin typeface="맑은 고딕"/>
              </a:rPr>
              <a:t>•  발표를 준비하면서 스스로 잘하고 있는지 판단하기 어렵다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01617"/>
                </a:solidFill>
                <a:latin typeface="맑은 고딕"/>
              </a:rPr>
              <a:t>•  어디를 고쳐야 할지 객관적인 기준이 없다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4000" b="1">
                <a:solidFill>
                  <a:srgbClr val="0E7D72"/>
                </a:solidFill>
                <a:latin typeface="맑은 고딕"/>
              </a:rPr>
              <a:t>솔루션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3409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01617"/>
                </a:solidFill>
                <a:latin typeface="맑은 고딕"/>
              </a:rPr>
              <a:t>•  발표 슬라이드와 리허설 음성만 업로드하면 끝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01617"/>
                </a:solidFill>
                <a:latin typeface="맑은 고딕"/>
              </a:rPr>
              <a:t>•  AI가 슬라이드-발화 정합성부터 전달력까지 자동 분석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4000" b="1">
                <a:solidFill>
                  <a:srgbClr val="0E7D72"/>
                </a:solidFill>
                <a:latin typeface="맑은 고딕"/>
              </a:rPr>
              <a:t>사용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3409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01617"/>
                </a:solidFill>
                <a:latin typeface="맑은 고딕"/>
              </a:rPr>
              <a:t>•  1. 발표 제목 입력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01617"/>
                </a:solidFill>
                <a:latin typeface="맑은 고딕"/>
              </a:rPr>
              <a:t>•  2. PPT + 발표 음성 업로드 (대본은 선택)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01617"/>
                </a:solidFill>
                <a:latin typeface="맑은 고딕"/>
              </a:rPr>
              <a:t>•  3. AI가 자동으로 분석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01617"/>
                </a:solidFill>
                <a:latin typeface="맑은 고딕"/>
              </a:rPr>
              <a:t>•  4. 링크 하나로 3일간 결과 확인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4000" b="1">
                <a:solidFill>
                  <a:srgbClr val="0E7D72"/>
                </a:solidFill>
                <a:latin typeface="맑은 고딕"/>
              </a:rPr>
              <a:t>핵심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7071"/>
            <a:ext cx="8644467" cy="237545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 dirty="0">
                <a:solidFill>
                  <a:srgbClr val="101617"/>
                </a:solidFill>
                <a:latin typeface="맑은 고딕"/>
              </a:rPr>
              <a:t>•  </a:t>
            </a:r>
            <a:r>
              <a:rPr sz="2400" b="0" dirty="0" err="1">
                <a:solidFill>
                  <a:srgbClr val="101617"/>
                </a:solidFill>
                <a:latin typeface="맑은 고딕"/>
              </a:rPr>
              <a:t>슬라이드</a:t>
            </a:r>
            <a:r>
              <a:rPr sz="2400" b="0" dirty="0">
                <a:solidFill>
                  <a:srgbClr val="101617"/>
                </a:solidFill>
                <a:latin typeface="맑은 고딕"/>
              </a:rPr>
              <a:t> </a:t>
            </a:r>
            <a:r>
              <a:rPr sz="2400" b="0" dirty="0" err="1">
                <a:solidFill>
                  <a:srgbClr val="101617"/>
                </a:solidFill>
                <a:latin typeface="맑은 고딕"/>
              </a:rPr>
              <a:t>주장과</a:t>
            </a:r>
            <a:r>
              <a:rPr sz="2400" b="0" dirty="0">
                <a:solidFill>
                  <a:srgbClr val="101617"/>
                </a:solidFill>
                <a:latin typeface="맑은 고딕"/>
              </a:rPr>
              <a:t> </a:t>
            </a:r>
            <a:r>
              <a:rPr sz="2400" b="0" dirty="0" err="1">
                <a:solidFill>
                  <a:srgbClr val="101617"/>
                </a:solidFill>
                <a:latin typeface="맑은 고딕"/>
              </a:rPr>
              <a:t>실제</a:t>
            </a:r>
            <a:r>
              <a:rPr sz="2400" b="0" dirty="0">
                <a:solidFill>
                  <a:srgbClr val="101617"/>
                </a:solidFill>
                <a:latin typeface="맑은 고딕"/>
              </a:rPr>
              <a:t> </a:t>
            </a:r>
            <a:r>
              <a:rPr sz="2400" b="0" dirty="0" err="1">
                <a:solidFill>
                  <a:srgbClr val="101617"/>
                </a:solidFill>
                <a:latin typeface="맑은 고딕"/>
              </a:rPr>
              <a:t>발화의</a:t>
            </a:r>
            <a:r>
              <a:rPr sz="2400" b="0" dirty="0">
                <a:solidFill>
                  <a:srgbClr val="101617"/>
                </a:solidFill>
                <a:latin typeface="맑은 고딕"/>
              </a:rPr>
              <a:t> </a:t>
            </a:r>
            <a:r>
              <a:rPr sz="2400" b="0" dirty="0" err="1">
                <a:solidFill>
                  <a:srgbClr val="101617"/>
                </a:solidFill>
                <a:latin typeface="맑은 고딕"/>
              </a:rPr>
              <a:t>정합성</a:t>
            </a:r>
            <a:r>
              <a:rPr sz="2400" b="0" dirty="0">
                <a:solidFill>
                  <a:srgbClr val="101617"/>
                </a:solidFill>
                <a:latin typeface="맑은 고딕"/>
              </a:rPr>
              <a:t> </a:t>
            </a:r>
            <a:r>
              <a:rPr sz="2400" b="0" dirty="0" err="1">
                <a:solidFill>
                  <a:srgbClr val="101617"/>
                </a:solidFill>
                <a:latin typeface="맑은 고딕"/>
              </a:rPr>
              <a:t>검사</a:t>
            </a:r>
            <a:endParaRPr sz="2400" b="0" dirty="0">
              <a:solidFill>
                <a:srgbClr val="101617"/>
              </a:solidFill>
              <a:latin typeface="맑은 고딕"/>
            </a:endParaRPr>
          </a:p>
          <a:p>
            <a:pPr algn="l">
              <a:lnSpc>
                <a:spcPct val="160000"/>
              </a:lnSpc>
            </a:pPr>
            <a:r>
              <a:rPr sz="2400" b="0" dirty="0">
                <a:solidFill>
                  <a:srgbClr val="101617"/>
                </a:solidFill>
                <a:latin typeface="맑은 고딕"/>
              </a:rPr>
              <a:t>•  </a:t>
            </a:r>
            <a:r>
              <a:rPr sz="2400" b="0" dirty="0" err="1">
                <a:solidFill>
                  <a:srgbClr val="101617"/>
                </a:solidFill>
                <a:latin typeface="맑은 고딕"/>
              </a:rPr>
              <a:t>주제</a:t>
            </a:r>
            <a:r>
              <a:rPr sz="2400" b="0" dirty="0">
                <a:solidFill>
                  <a:srgbClr val="101617"/>
                </a:solidFill>
                <a:latin typeface="맑은 고딕"/>
              </a:rPr>
              <a:t> </a:t>
            </a:r>
            <a:r>
              <a:rPr sz="2400" b="0" dirty="0" err="1">
                <a:solidFill>
                  <a:srgbClr val="101617"/>
                </a:solidFill>
                <a:latin typeface="맑은 고딕"/>
              </a:rPr>
              <a:t>이탈</a:t>
            </a:r>
            <a:r>
              <a:rPr sz="2400" b="0" dirty="0">
                <a:solidFill>
                  <a:srgbClr val="101617"/>
                </a:solidFill>
                <a:latin typeface="맑은 고딕"/>
              </a:rPr>
              <a:t> · </a:t>
            </a:r>
            <a:r>
              <a:rPr sz="2400" b="0" dirty="0" err="1">
                <a:solidFill>
                  <a:srgbClr val="101617"/>
                </a:solidFill>
                <a:latin typeface="맑은 고딕"/>
              </a:rPr>
              <a:t>논리</a:t>
            </a:r>
            <a:r>
              <a:rPr sz="2400" b="0" dirty="0">
                <a:solidFill>
                  <a:srgbClr val="101617"/>
                </a:solidFill>
                <a:latin typeface="맑은 고딕"/>
              </a:rPr>
              <a:t> </a:t>
            </a:r>
            <a:r>
              <a:rPr sz="2400" b="0" dirty="0" err="1">
                <a:solidFill>
                  <a:srgbClr val="101617"/>
                </a:solidFill>
                <a:latin typeface="맑은 고딕"/>
              </a:rPr>
              <a:t>비약</a:t>
            </a:r>
            <a:r>
              <a:rPr sz="2400" b="0" dirty="0">
                <a:solidFill>
                  <a:srgbClr val="101617"/>
                </a:solidFill>
                <a:latin typeface="맑은 고딕"/>
              </a:rPr>
              <a:t> </a:t>
            </a:r>
            <a:r>
              <a:rPr sz="2400" b="0" dirty="0" err="1">
                <a:solidFill>
                  <a:srgbClr val="101617"/>
                </a:solidFill>
                <a:latin typeface="맑은 고딕"/>
              </a:rPr>
              <a:t>감지</a:t>
            </a:r>
            <a:endParaRPr sz="2400" b="0" dirty="0">
              <a:solidFill>
                <a:srgbClr val="101617"/>
              </a:solidFill>
              <a:latin typeface="맑은 고딕"/>
            </a:endParaRPr>
          </a:p>
          <a:p>
            <a:pPr algn="l">
              <a:lnSpc>
                <a:spcPct val="160000"/>
              </a:lnSpc>
            </a:pPr>
            <a:r>
              <a:rPr sz="2400" b="0" dirty="0">
                <a:solidFill>
                  <a:srgbClr val="101617"/>
                </a:solidFill>
                <a:latin typeface="맑은 고딕"/>
              </a:rPr>
              <a:t>•  </a:t>
            </a:r>
            <a:r>
              <a:rPr sz="2400" b="0" dirty="0" err="1">
                <a:solidFill>
                  <a:srgbClr val="101617"/>
                </a:solidFill>
                <a:latin typeface="맑은 고딕"/>
              </a:rPr>
              <a:t>전달력</a:t>
            </a:r>
            <a:r>
              <a:rPr sz="2400" b="0" dirty="0">
                <a:solidFill>
                  <a:srgbClr val="101617"/>
                </a:solidFill>
                <a:latin typeface="맑은 고딕"/>
              </a:rPr>
              <a:t> </a:t>
            </a:r>
            <a:r>
              <a:rPr sz="2400" b="0" dirty="0" err="1">
                <a:solidFill>
                  <a:srgbClr val="101617"/>
                </a:solidFill>
                <a:latin typeface="맑은 고딕"/>
              </a:rPr>
              <a:t>지표</a:t>
            </a:r>
            <a:r>
              <a:rPr sz="2400" b="0" dirty="0">
                <a:solidFill>
                  <a:srgbClr val="101617"/>
                </a:solidFill>
                <a:latin typeface="맑은 고딕"/>
              </a:rPr>
              <a:t>: </a:t>
            </a:r>
            <a:r>
              <a:rPr sz="2400" b="0" dirty="0" err="1">
                <a:solidFill>
                  <a:srgbClr val="101617"/>
                </a:solidFill>
                <a:latin typeface="맑은 고딕"/>
              </a:rPr>
              <a:t>말하기</a:t>
            </a:r>
            <a:r>
              <a:rPr sz="2400" b="0" dirty="0">
                <a:solidFill>
                  <a:srgbClr val="101617"/>
                </a:solidFill>
                <a:latin typeface="맑은 고딕"/>
              </a:rPr>
              <a:t> </a:t>
            </a:r>
            <a:r>
              <a:rPr sz="2400" b="0" dirty="0" err="1">
                <a:solidFill>
                  <a:srgbClr val="101617"/>
                </a:solidFill>
                <a:latin typeface="맑은 고딕"/>
              </a:rPr>
              <a:t>속도</a:t>
            </a:r>
            <a:r>
              <a:rPr sz="2400" b="0" dirty="0">
                <a:solidFill>
                  <a:srgbClr val="101617"/>
                </a:solidFill>
                <a:latin typeface="맑은 고딕"/>
              </a:rPr>
              <a:t>(WPM) · </a:t>
            </a:r>
            <a:r>
              <a:rPr sz="2400" b="0" dirty="0" err="1">
                <a:solidFill>
                  <a:srgbClr val="101617"/>
                </a:solidFill>
                <a:latin typeface="맑은 고딕"/>
              </a:rPr>
              <a:t>침묵</a:t>
            </a:r>
            <a:r>
              <a:rPr sz="2400" b="0" dirty="0">
                <a:solidFill>
                  <a:srgbClr val="101617"/>
                </a:solidFill>
                <a:latin typeface="맑은 고딕"/>
              </a:rPr>
              <a:t> · </a:t>
            </a:r>
            <a:r>
              <a:rPr sz="2400" b="0" dirty="0" err="1">
                <a:solidFill>
                  <a:srgbClr val="101617"/>
                </a:solidFill>
                <a:latin typeface="맑은 고딕"/>
              </a:rPr>
              <a:t>채움말</a:t>
            </a:r>
            <a:r>
              <a:rPr sz="2400" b="0" dirty="0">
                <a:solidFill>
                  <a:srgbClr val="101617"/>
                </a:solidFill>
                <a:latin typeface="맑은 고딕"/>
              </a:rPr>
              <a:t> · </a:t>
            </a:r>
            <a:r>
              <a:rPr sz="2400" b="0" dirty="0" err="1">
                <a:solidFill>
                  <a:srgbClr val="101617"/>
                </a:solidFill>
                <a:latin typeface="맑은 고딕"/>
              </a:rPr>
              <a:t>성량</a:t>
            </a:r>
            <a:r>
              <a:rPr sz="2400" b="0" dirty="0">
                <a:solidFill>
                  <a:srgbClr val="101617"/>
                </a:solidFill>
                <a:latin typeface="맑은 고딕"/>
              </a:rPr>
              <a:t> </a:t>
            </a:r>
            <a:r>
              <a:rPr sz="2400" b="0" dirty="0" err="1">
                <a:solidFill>
                  <a:srgbClr val="101617"/>
                </a:solidFill>
                <a:latin typeface="맑은 고딕"/>
              </a:rPr>
              <a:t>변화</a:t>
            </a:r>
            <a:endParaRPr sz="2400" b="0" dirty="0">
              <a:solidFill>
                <a:srgbClr val="101617"/>
              </a:solidFill>
              <a:latin typeface="맑은 고딕"/>
            </a:endParaRPr>
          </a:p>
          <a:p>
            <a:pPr algn="l">
              <a:lnSpc>
                <a:spcPct val="160000"/>
              </a:lnSpc>
            </a:pPr>
            <a:r>
              <a:rPr sz="2400" b="0" dirty="0">
                <a:solidFill>
                  <a:srgbClr val="101617"/>
                </a:solidFill>
                <a:latin typeface="맑은 고딕"/>
              </a:rPr>
              <a:t>•  </a:t>
            </a:r>
            <a:r>
              <a:rPr sz="2400" b="0" dirty="0" err="1">
                <a:solidFill>
                  <a:srgbClr val="101617"/>
                </a:solidFill>
                <a:latin typeface="맑은 고딕"/>
              </a:rPr>
              <a:t>대본</a:t>
            </a:r>
            <a:r>
              <a:rPr sz="2400" b="0" dirty="0">
                <a:solidFill>
                  <a:srgbClr val="101617"/>
                </a:solidFill>
                <a:latin typeface="맑은 고딕"/>
              </a:rPr>
              <a:t> </a:t>
            </a:r>
            <a:r>
              <a:rPr sz="2400" b="0" dirty="0" err="1">
                <a:solidFill>
                  <a:srgbClr val="101617"/>
                </a:solidFill>
                <a:latin typeface="맑은 고딕"/>
              </a:rPr>
              <a:t>대조</a:t>
            </a:r>
            <a:r>
              <a:rPr sz="2400" b="0" dirty="0">
                <a:solidFill>
                  <a:srgbClr val="101617"/>
                </a:solidFill>
                <a:latin typeface="맑은 고딕"/>
              </a:rPr>
              <a:t> (</a:t>
            </a:r>
            <a:r>
              <a:rPr sz="2400" b="0" dirty="0" err="1">
                <a:solidFill>
                  <a:srgbClr val="101617"/>
                </a:solidFill>
                <a:latin typeface="맑은 고딕"/>
              </a:rPr>
              <a:t>선택</a:t>
            </a:r>
            <a:r>
              <a:rPr sz="2400" b="0" dirty="0">
                <a:solidFill>
                  <a:srgbClr val="101617"/>
                </a:solidFill>
                <a:latin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4000" b="1">
                <a:solidFill>
                  <a:srgbClr val="0E7D72"/>
                </a:solidFill>
                <a:latin typeface="맑은 고딕"/>
              </a:rPr>
              <a:t>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34095" cy="4206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01617"/>
                </a:solidFill>
                <a:latin typeface="맑은 고딕"/>
              </a:rPr>
              <a:t>•  발표 전에, PTPT로 한 번 리허설해보세요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</Words>
  <Application>Microsoft Office PowerPoint</Application>
  <PresentationFormat>와이드스크린</PresentationFormat>
  <Paragraphs>20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환희 지</cp:lastModifiedBy>
  <cp:revision>3</cp:revision>
  <dcterms:created xsi:type="dcterms:W3CDTF">2013-01-27T09:14:16Z</dcterms:created>
  <dcterms:modified xsi:type="dcterms:W3CDTF">2026-09-15T09:39:17Z</dcterms:modified>
  <cp:category/>
</cp:coreProperties>
</file>